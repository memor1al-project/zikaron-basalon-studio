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Heebo" pitchFamily="2" charset="-79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8" roundtripDataSignature="AMtx7miY4LUCYhmaxDjFSLu2NNSKeKxK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80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AD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2199391" y="1823163"/>
            <a:ext cx="13889100" cy="802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599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מצגת זו נבנתה כדי לספק </a:t>
            </a:r>
            <a:r>
              <a:rPr lang="iw-IL" sz="2599" b="1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דוגמה ומסגרת </a:t>
            </a:r>
            <a:endParaRPr sz="800">
              <a:latin typeface="Heebo" pitchFamily="2" charset="-79"/>
              <a:ea typeface="Heebo"/>
              <a:cs typeface="Heebo" pitchFamily="2" charset="-79"/>
              <a:sym typeface="Heebo"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599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להעברת הסיפור האישי והמשפחתי במפגש זיכרון בסלון. </a:t>
            </a:r>
            <a:endParaRPr sz="800">
              <a:latin typeface="Heebo" pitchFamily="2" charset="-79"/>
              <a:ea typeface="Heebo"/>
              <a:cs typeface="Heebo" pitchFamily="2" charset="-79"/>
              <a:sym typeface="Heebo"/>
            </a:endParaRPr>
          </a:p>
          <a:p>
            <a:pPr marL="0" marR="0" lvl="0" indent="0" algn="ctr" rtl="1">
              <a:lnSpc>
                <a:spcPct val="10940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99" i="0" u="none" strike="noStrike" cap="none">
              <a:solidFill>
                <a:srgbClr val="000000"/>
              </a:solidFill>
              <a:latin typeface="Heebo" pitchFamily="2" charset="-79"/>
              <a:ea typeface="Heebo"/>
              <a:cs typeface="Heebo" pitchFamily="2" charset="-79"/>
              <a:sym typeface="Heebo"/>
              <a:rtl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599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אין צורך לעשות שימוש בכל השקופיות.</a:t>
            </a:r>
            <a:endParaRPr sz="800">
              <a:latin typeface="Heebo" pitchFamily="2" charset="-79"/>
              <a:ea typeface="Heebo"/>
              <a:cs typeface="Heebo" pitchFamily="2" charset="-79"/>
              <a:sym typeface="Heebo"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599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במידה וישנם חלקים בסיפור שלכם.ן שאינם תואמים את רצף המצגת, אין צורך להשלימם.</a:t>
            </a:r>
            <a:endParaRPr sz="800">
              <a:latin typeface="Heebo" pitchFamily="2" charset="-79"/>
              <a:ea typeface="Heebo"/>
              <a:cs typeface="Heebo" pitchFamily="2" charset="-79"/>
              <a:sym typeface="Heebo"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599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חשוב להיות קשובים לעצמכם ולסיפור אותו אתם מחזיקים. </a:t>
            </a:r>
            <a:endParaRPr sz="800">
              <a:latin typeface="Heebo" pitchFamily="2" charset="-79"/>
              <a:ea typeface="Heebo"/>
              <a:cs typeface="Heebo" pitchFamily="2" charset="-79"/>
              <a:sym typeface="Heebo"/>
            </a:endParaRPr>
          </a:p>
          <a:p>
            <a:pPr marL="0" marR="0" lvl="0" indent="0" algn="ctr" rtl="0">
              <a:lnSpc>
                <a:spcPct val="10940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99" i="0" u="none" strike="noStrike" cap="none">
              <a:solidFill>
                <a:srgbClr val="000000"/>
              </a:solidFill>
              <a:latin typeface="Heebo" pitchFamily="2" charset="-79"/>
              <a:ea typeface="Heebo"/>
              <a:cs typeface="Heebo" pitchFamily="2" charset="-79"/>
              <a:sym typeface="Heebo"/>
              <a:rtl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599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המצגת נועדה לסייע לכם.ן </a:t>
            </a:r>
            <a:r>
              <a:rPr lang="iw-IL" sz="2599" b="1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במיקוד </a:t>
            </a:r>
            <a:r>
              <a:rPr lang="iw-IL" sz="2599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הסיפור.  </a:t>
            </a:r>
            <a:endParaRPr sz="800">
              <a:latin typeface="Heebo" pitchFamily="2" charset="-79"/>
              <a:ea typeface="Heebo"/>
              <a:cs typeface="Heebo" pitchFamily="2" charset="-79"/>
              <a:sym typeface="Heebo"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599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תוכלו להעשיר את הסיפור באמצעות חומרים </a:t>
            </a:r>
            <a:r>
              <a:rPr lang="iw-IL" sz="2599" b="1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ויזואליים</a:t>
            </a:r>
            <a:r>
              <a:rPr lang="iw-IL" sz="2599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, </a:t>
            </a:r>
            <a:endParaRPr sz="800">
              <a:latin typeface="Heebo" pitchFamily="2" charset="-79"/>
              <a:ea typeface="Heebo"/>
              <a:cs typeface="Heebo" pitchFamily="2" charset="-79"/>
              <a:sym typeface="Heebo"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599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כדי לחבר בין המשתתפים </a:t>
            </a:r>
            <a:r>
              <a:rPr lang="iw-IL" sz="2599" b="1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לערכים ולמסרים </a:t>
            </a:r>
            <a:r>
              <a:rPr lang="iw-IL" sz="2599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העולים בסיפור שלכם.</a:t>
            </a:r>
            <a:endParaRPr sz="800">
              <a:latin typeface="Heebo" pitchFamily="2" charset="-79"/>
              <a:ea typeface="Heebo"/>
              <a:cs typeface="Heebo" pitchFamily="2" charset="-79"/>
              <a:sym typeface="Heebo"/>
            </a:endParaRPr>
          </a:p>
          <a:p>
            <a:pPr marL="0" marR="0" lvl="0" indent="0" algn="ctr" rtl="1">
              <a:lnSpc>
                <a:spcPct val="10940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99" i="0" u="none" strike="noStrike" cap="none">
              <a:solidFill>
                <a:srgbClr val="000000"/>
              </a:solidFill>
              <a:latin typeface="Heebo" pitchFamily="2" charset="-79"/>
              <a:ea typeface="Heebo"/>
              <a:cs typeface="Heebo" pitchFamily="2" charset="-79"/>
              <a:sym typeface="Heebo"/>
              <a:rtl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599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השקופיות כוללות כותרות וקווים מנחים, שדות עריכה ומשבצות לתמונות, </a:t>
            </a:r>
            <a:endParaRPr sz="800">
              <a:latin typeface="Heebo" pitchFamily="2" charset="-79"/>
              <a:ea typeface="Heebo"/>
              <a:cs typeface="Heebo" pitchFamily="2" charset="-79"/>
              <a:sym typeface="Heebo"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599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כדי שתוכלו לערוך ולהתאים את המצגת באופן אישי וייחודי לסיפור שלכם.</a:t>
            </a:r>
            <a:endParaRPr sz="800">
              <a:latin typeface="Heebo" pitchFamily="2" charset="-79"/>
              <a:ea typeface="Heebo"/>
              <a:cs typeface="Heebo" pitchFamily="2" charset="-79"/>
              <a:sym typeface="Heebo"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99" i="0" u="none" strike="noStrike" cap="none">
              <a:solidFill>
                <a:srgbClr val="000000"/>
              </a:solidFill>
              <a:latin typeface="Heebo" pitchFamily="2" charset="-79"/>
              <a:ea typeface="Heebo"/>
              <a:cs typeface="Heebo" pitchFamily="2" charset="-79"/>
              <a:sym typeface="Heebo"/>
              <a:rtl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2599" i="0" u="none" strike="noStrike" cap="none">
                <a:solidFill>
                  <a:srgbClr val="000000"/>
                </a:solidFill>
                <a:latin typeface="Heebo" pitchFamily="2" charset="-79"/>
                <a:ea typeface="Heebo"/>
                <a:cs typeface="Heebo" pitchFamily="2" charset="-79"/>
                <a:sym typeface="Heebo"/>
                <a:rtl/>
              </a:rPr>
              <a:t>שימו לב שאינכם.ן מאריכים במילים ובטקסט, ומקפידים לשלב בעיקר תמונות וכותרות. </a:t>
            </a:r>
            <a:endParaRPr sz="800">
              <a:latin typeface="Heebo" pitchFamily="2" charset="-79"/>
              <a:ea typeface="Heebo"/>
              <a:cs typeface="Heebo" pitchFamily="2" charset="-79"/>
              <a:sym typeface="Heebo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339869" y="5143500"/>
            <a:ext cx="1859522" cy="5024666"/>
          </a:xfrm>
          <a:custGeom>
            <a:avLst/>
            <a:gdLst/>
            <a:ahLst/>
            <a:cxnLst/>
            <a:rect l="l" t="t" r="r" b="b"/>
            <a:pathLst>
              <a:path w="1859522" h="5024666" extrusionOk="0">
                <a:moveTo>
                  <a:pt x="0" y="0"/>
                </a:moveTo>
                <a:lnTo>
                  <a:pt x="1859522" y="0"/>
                </a:lnTo>
                <a:lnTo>
                  <a:pt x="1859522" y="5024666"/>
                </a:lnTo>
                <a:lnTo>
                  <a:pt x="0" y="5024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8180" t="-15983" r="-85470" b="-10528"/>
            </a:stretch>
          </a:blipFill>
          <a:ln>
            <a:noFill/>
          </a:ln>
        </p:spPr>
        <p:txBody>
          <a:bodyPr/>
          <a:lstStyle/>
          <a:p>
            <a:endParaRPr lang="he-IL">
              <a:latin typeface="Heebo" pitchFamily="2" charset="-79"/>
              <a:cs typeface="Heebo" pitchFamily="2" charset="-79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800254" y="829150"/>
            <a:ext cx="90957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5000" b="1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קווים מנחים לבניית המצגת</a:t>
            </a:r>
            <a:endParaRPr>
              <a:latin typeface="Heebo" pitchFamily="2" charset="-79"/>
              <a:cs typeface="Heebo" pitchFamily="2" charset="-79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ADB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3905111" y="4826444"/>
            <a:ext cx="10809797" cy="4745979"/>
          </a:xfrm>
          <a:custGeom>
            <a:avLst/>
            <a:gdLst/>
            <a:ahLst/>
            <a:cxnLst/>
            <a:rect l="l" t="t" r="r" b="b"/>
            <a:pathLst>
              <a:path w="10809797" h="4745979" extrusionOk="0">
                <a:moveTo>
                  <a:pt x="0" y="0"/>
                </a:moveTo>
                <a:lnTo>
                  <a:pt x="10809798" y="0"/>
                </a:lnTo>
                <a:lnTo>
                  <a:pt x="10809798" y="4745979"/>
                </a:lnTo>
                <a:lnTo>
                  <a:pt x="0" y="47459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t="-17092" b="-17094"/>
            </a:stretch>
          </a:blipFill>
          <a:ln>
            <a:noFill/>
          </a:ln>
        </p:spPr>
        <p:txBody>
          <a:bodyPr/>
          <a:lstStyle/>
          <a:p>
            <a:endParaRPr lang="he-IL">
              <a:latin typeface="Heebo" pitchFamily="2" charset="-79"/>
              <a:cs typeface="Heebo" pitchFamily="2" charset="-79"/>
            </a:endParaRPr>
          </a:p>
        </p:txBody>
      </p:sp>
      <p:grpSp>
        <p:nvGrpSpPr>
          <p:cNvPr id="92" name="Google Shape;92;p2"/>
          <p:cNvGrpSpPr/>
          <p:nvPr/>
        </p:nvGrpSpPr>
        <p:grpSpPr>
          <a:xfrm>
            <a:off x="0" y="9831575"/>
            <a:ext cx="18288000" cy="455425"/>
            <a:chOff x="0" y="-28575"/>
            <a:chExt cx="4816593" cy="119948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4816592" cy="91373"/>
            </a:xfrm>
            <a:custGeom>
              <a:avLst/>
              <a:gdLst/>
              <a:ahLst/>
              <a:cxnLst/>
              <a:rect l="l" t="t" r="r" b="b"/>
              <a:pathLst>
                <a:path w="4816592" h="9137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91373"/>
                  </a:lnTo>
                  <a:lnTo>
                    <a:pt x="0" y="91373"/>
                  </a:lnTo>
                  <a:close/>
                </a:path>
              </a:pathLst>
            </a:custGeom>
            <a:solidFill>
              <a:srgbClr val="E97E8D"/>
            </a:solidFill>
            <a:ln>
              <a:noFill/>
            </a:ln>
          </p:spPr>
          <p:txBody>
            <a:bodyPr/>
            <a:lstStyle/>
            <a:p>
              <a:endParaRPr lang="he-IL">
                <a:latin typeface="Heebo" pitchFamily="2" charset="-79"/>
                <a:cs typeface="Heebo" pitchFamily="2" charset="-79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0" y="-28575"/>
              <a:ext cx="4816593" cy="119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Heebo" pitchFamily="2" charset="-79"/>
                <a:ea typeface="Calibri"/>
                <a:cs typeface="Heebo" pitchFamily="2" charset="-79"/>
                <a:sym typeface="Calibri"/>
              </a:endParaRPr>
            </a:p>
          </p:txBody>
        </p:sp>
      </p:grpSp>
      <p:sp>
        <p:nvSpPr>
          <p:cNvPr id="95" name="Google Shape;95;p2"/>
          <p:cNvSpPr txBox="1"/>
          <p:nvPr/>
        </p:nvSpPr>
        <p:spPr>
          <a:xfrm>
            <a:off x="4693533" y="952783"/>
            <a:ext cx="8900930" cy="280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2999" b="1" i="0" u="none" strike="noStrike" cap="none" dirty="0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סיפור בסלון</a:t>
            </a:r>
            <a:endParaRPr b="1" dirty="0">
              <a:latin typeface="Heebo" pitchFamily="2" charset="-79"/>
              <a:cs typeface="Heebo" pitchFamily="2" charset="-79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ADB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3132377" y="2187996"/>
            <a:ext cx="4222108" cy="5963381"/>
          </a:xfrm>
          <a:custGeom>
            <a:avLst/>
            <a:gdLst/>
            <a:ahLst/>
            <a:cxnLst/>
            <a:rect l="l" t="t" r="r" b="b"/>
            <a:pathLst>
              <a:path w="4196052" h="5963381" extrusionOk="0">
                <a:moveTo>
                  <a:pt x="0" y="0"/>
                </a:moveTo>
                <a:lnTo>
                  <a:pt x="4196052" y="0"/>
                </a:lnTo>
                <a:lnTo>
                  <a:pt x="4196052" y="5963382"/>
                </a:lnTo>
                <a:lnTo>
                  <a:pt x="0" y="59633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he-IL">
              <a:latin typeface="Heebo" pitchFamily="2" charset="-79"/>
              <a:cs typeface="Heebo" pitchFamily="2" charset="-79"/>
            </a:endParaRPr>
          </a:p>
        </p:txBody>
      </p:sp>
      <p:sp>
        <p:nvSpPr>
          <p:cNvPr id="101" name="Google Shape;101;p3"/>
          <p:cNvSpPr/>
          <p:nvPr/>
        </p:nvSpPr>
        <p:spPr>
          <a:xfrm rot="-5400000">
            <a:off x="11841457" y="2103746"/>
            <a:ext cx="4222837" cy="6038717"/>
          </a:xfrm>
          <a:custGeom>
            <a:avLst/>
            <a:gdLst/>
            <a:ahLst/>
            <a:cxnLst/>
            <a:rect l="l" t="t" r="r" b="b"/>
            <a:pathLst>
              <a:path w="4222837" h="6001448" extrusionOk="0">
                <a:moveTo>
                  <a:pt x="0" y="0"/>
                </a:moveTo>
                <a:lnTo>
                  <a:pt x="4222837" y="0"/>
                </a:lnTo>
                <a:lnTo>
                  <a:pt x="4222837" y="6001448"/>
                </a:lnTo>
                <a:lnTo>
                  <a:pt x="0" y="6001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he-IL">
              <a:latin typeface="Heebo" pitchFamily="2" charset="-79"/>
              <a:cs typeface="Heebo" pitchFamily="2" charset="-79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6098525" y="857250"/>
            <a:ext cx="6128772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5000" b="1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הדמות עליה אני מספר\ת</a:t>
            </a:r>
            <a:endParaRPr>
              <a:latin typeface="Heebo" pitchFamily="2" charset="-79"/>
              <a:cs typeface="Heebo" pitchFamily="2" charset="-79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3873423" y="8682007"/>
            <a:ext cx="10541153" cy="689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199" b="0" i="0" u="none" strike="noStrike" cap="none" dirty="0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משפט או קטע מטקסט שקשור לסיפור\לדמות\אליי באופן אישי</a:t>
            </a:r>
            <a:endParaRPr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12474003" y="4109659"/>
            <a:ext cx="2957744" cy="206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199" b="0" i="0" u="none" strike="noStrike" cap="none" dirty="0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תמונה של הדמות </a:t>
            </a:r>
            <a:endParaRPr dirty="0">
              <a:latin typeface="Heebo" pitchFamily="2" charset="-79"/>
              <a:cs typeface="Heebo" pitchFamily="2" charset="-79"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199" b="0" i="0" u="none" strike="noStrike" cap="none" dirty="0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מהעבר הרחוק יותר</a:t>
            </a:r>
            <a:endParaRPr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3781304" y="4135845"/>
            <a:ext cx="2924254" cy="2067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199" b="0" i="0" u="none" strike="noStrike" cap="none" dirty="0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תמונה של הדמות </a:t>
            </a:r>
            <a:endParaRPr dirty="0">
              <a:latin typeface="Heebo" pitchFamily="2" charset="-79"/>
              <a:cs typeface="Heebo" pitchFamily="2" charset="-79"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199" b="0" i="0" u="none" strike="noStrike" cap="none" dirty="0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מהעבר הקרוב יותר</a:t>
            </a:r>
            <a:endParaRPr dirty="0">
              <a:latin typeface="Heebo" pitchFamily="2" charset="-79"/>
              <a:cs typeface="Heebo" pitchFamily="2" charset="-79"/>
            </a:endParaRPr>
          </a:p>
        </p:txBody>
      </p:sp>
      <p:grpSp>
        <p:nvGrpSpPr>
          <p:cNvPr id="106" name="Google Shape;106;p3"/>
          <p:cNvGrpSpPr/>
          <p:nvPr/>
        </p:nvGrpSpPr>
        <p:grpSpPr>
          <a:xfrm>
            <a:off x="-1" y="9831575"/>
            <a:ext cx="18401563" cy="455425"/>
            <a:chOff x="0" y="-28575"/>
            <a:chExt cx="4816593" cy="119948"/>
          </a:xfrm>
        </p:grpSpPr>
        <p:sp>
          <p:nvSpPr>
            <p:cNvPr id="107" name="Google Shape;107;p3"/>
            <p:cNvSpPr/>
            <p:nvPr/>
          </p:nvSpPr>
          <p:spPr>
            <a:xfrm>
              <a:off x="0" y="0"/>
              <a:ext cx="4816592" cy="91373"/>
            </a:xfrm>
            <a:custGeom>
              <a:avLst/>
              <a:gdLst/>
              <a:ahLst/>
              <a:cxnLst/>
              <a:rect l="l" t="t" r="r" b="b"/>
              <a:pathLst>
                <a:path w="4816592" h="9137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91373"/>
                  </a:lnTo>
                  <a:lnTo>
                    <a:pt x="0" y="91373"/>
                  </a:lnTo>
                  <a:close/>
                </a:path>
              </a:pathLst>
            </a:custGeom>
            <a:solidFill>
              <a:srgbClr val="E97E8D"/>
            </a:solidFill>
            <a:ln>
              <a:noFill/>
            </a:ln>
          </p:spPr>
          <p:txBody>
            <a:bodyPr/>
            <a:lstStyle/>
            <a:p>
              <a:endParaRPr lang="he-IL">
                <a:latin typeface="Heebo" pitchFamily="2" charset="-79"/>
                <a:cs typeface="Heebo" pitchFamily="2" charset="-79"/>
              </a:endParaRPr>
            </a:p>
          </p:txBody>
        </p:sp>
        <p:sp>
          <p:nvSpPr>
            <p:cNvPr id="108" name="Google Shape;108;p3"/>
            <p:cNvSpPr txBox="1"/>
            <p:nvPr/>
          </p:nvSpPr>
          <p:spPr>
            <a:xfrm>
              <a:off x="0" y="-28575"/>
              <a:ext cx="4816593" cy="119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Heebo" pitchFamily="2" charset="-79"/>
                <a:ea typeface="Calibri"/>
                <a:cs typeface="Heebo" pitchFamily="2" charset="-79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ADB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4"/>
          <p:cNvGrpSpPr/>
          <p:nvPr/>
        </p:nvGrpSpPr>
        <p:grpSpPr>
          <a:xfrm>
            <a:off x="0" y="9686915"/>
            <a:ext cx="18288000" cy="600085"/>
            <a:chOff x="0" y="-66675"/>
            <a:chExt cx="4816593" cy="158048"/>
          </a:xfrm>
        </p:grpSpPr>
        <p:sp>
          <p:nvSpPr>
            <p:cNvPr id="114" name="Google Shape;114;p4"/>
            <p:cNvSpPr/>
            <p:nvPr/>
          </p:nvSpPr>
          <p:spPr>
            <a:xfrm>
              <a:off x="0" y="0"/>
              <a:ext cx="4816592" cy="91373"/>
            </a:xfrm>
            <a:custGeom>
              <a:avLst/>
              <a:gdLst/>
              <a:ahLst/>
              <a:cxnLst/>
              <a:rect l="l" t="t" r="r" b="b"/>
              <a:pathLst>
                <a:path w="4816592" h="9137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91373"/>
                  </a:lnTo>
                  <a:lnTo>
                    <a:pt x="0" y="91373"/>
                  </a:lnTo>
                  <a:close/>
                </a:path>
              </a:pathLst>
            </a:custGeom>
            <a:solidFill>
              <a:srgbClr val="E97E8D"/>
            </a:solidFill>
            <a:ln>
              <a:noFill/>
            </a:ln>
          </p:spPr>
          <p:txBody>
            <a:bodyPr/>
            <a:lstStyle/>
            <a:p>
              <a:endParaRPr lang="he-IL">
                <a:latin typeface="Heebo" pitchFamily="2" charset="-79"/>
                <a:cs typeface="Heebo" pitchFamily="2" charset="-79"/>
              </a:endParaRPr>
            </a:p>
          </p:txBody>
        </p:sp>
        <p:sp>
          <p:nvSpPr>
            <p:cNvPr id="115" name="Google Shape;115;p4"/>
            <p:cNvSpPr txBox="1"/>
            <p:nvPr/>
          </p:nvSpPr>
          <p:spPr>
            <a:xfrm>
              <a:off x="0" y="-66675"/>
              <a:ext cx="4816593" cy="1580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Heebo" pitchFamily="2" charset="-79"/>
                <a:ea typeface="Calibri"/>
                <a:cs typeface="Heebo" pitchFamily="2" charset="-79"/>
                <a:sym typeface="Calibri"/>
              </a:endParaRPr>
            </a:p>
          </p:txBody>
        </p:sp>
      </p:grpSp>
      <p:sp>
        <p:nvSpPr>
          <p:cNvPr id="116" name="Google Shape;116;p4"/>
          <p:cNvSpPr/>
          <p:nvPr/>
        </p:nvSpPr>
        <p:spPr>
          <a:xfrm>
            <a:off x="598383" y="4700093"/>
            <a:ext cx="5076079" cy="4932257"/>
          </a:xfrm>
          <a:custGeom>
            <a:avLst/>
            <a:gdLst/>
            <a:ahLst/>
            <a:cxnLst/>
            <a:rect l="l" t="t" r="r" b="b"/>
            <a:pathLst>
              <a:path w="5076079" h="4932257" extrusionOk="0">
                <a:moveTo>
                  <a:pt x="0" y="0"/>
                </a:moveTo>
                <a:lnTo>
                  <a:pt x="5076079" y="0"/>
                </a:lnTo>
                <a:lnTo>
                  <a:pt x="5076079" y="4932258"/>
                </a:lnTo>
                <a:lnTo>
                  <a:pt x="0" y="49322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he-IL">
              <a:latin typeface="Heebo" pitchFamily="2" charset="-79"/>
              <a:cs typeface="Heebo" pitchFamily="2" charset="-79"/>
            </a:endParaRPr>
          </a:p>
        </p:txBody>
      </p:sp>
      <p:sp>
        <p:nvSpPr>
          <p:cNvPr id="117" name="Google Shape;117;p4"/>
          <p:cNvSpPr txBox="1"/>
          <p:nvPr/>
        </p:nvSpPr>
        <p:spPr>
          <a:xfrm>
            <a:off x="6495689" y="857250"/>
            <a:ext cx="5026061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5000" b="1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הצגה עצמית ושיתוף</a:t>
            </a:r>
            <a:endParaRPr>
              <a:latin typeface="Heebo" pitchFamily="2" charset="-79"/>
              <a:cs typeface="Heebo" pitchFamily="2" charset="-79"/>
            </a:endParaRPr>
          </a:p>
        </p:txBody>
      </p:sp>
      <p:sp>
        <p:nvSpPr>
          <p:cNvPr id="118" name="Google Shape;118;p4"/>
          <p:cNvSpPr txBox="1"/>
          <p:nvPr/>
        </p:nvSpPr>
        <p:spPr>
          <a:xfrm>
            <a:off x="6412802" y="3221944"/>
            <a:ext cx="5191800" cy="2756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199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מי אני?</a:t>
            </a:r>
            <a:endParaRPr>
              <a:latin typeface="Heebo" pitchFamily="2" charset="-79"/>
              <a:cs typeface="Heebo" pitchFamily="2" charset="-79"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199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למה חשוב לי לספר סיפור? </a:t>
            </a:r>
            <a:endParaRPr>
              <a:latin typeface="Heebo" pitchFamily="2" charset="-79"/>
              <a:cs typeface="Heebo" pitchFamily="2" charset="-79"/>
            </a:endParaRPr>
          </a:p>
          <a:p>
            <a:pPr marL="0" marR="0" lvl="0" indent="0" algn="ctr" rtl="1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199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למה חשוב לי לספר בזיכרון בסלון?</a:t>
            </a:r>
            <a:endParaRPr>
              <a:latin typeface="Heebo" pitchFamily="2" charset="-79"/>
              <a:cs typeface="Heebo" pitchFamily="2" charset="-79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ADB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oogle Shape;123;p5"/>
          <p:cNvGrpSpPr/>
          <p:nvPr/>
        </p:nvGrpSpPr>
        <p:grpSpPr>
          <a:xfrm>
            <a:off x="0" y="9831575"/>
            <a:ext cx="18288000" cy="455425"/>
            <a:chOff x="0" y="-28575"/>
            <a:chExt cx="4816593" cy="119948"/>
          </a:xfrm>
        </p:grpSpPr>
        <p:sp>
          <p:nvSpPr>
            <p:cNvPr id="124" name="Google Shape;124;p5"/>
            <p:cNvSpPr/>
            <p:nvPr/>
          </p:nvSpPr>
          <p:spPr>
            <a:xfrm>
              <a:off x="0" y="0"/>
              <a:ext cx="4816592" cy="91373"/>
            </a:xfrm>
            <a:custGeom>
              <a:avLst/>
              <a:gdLst/>
              <a:ahLst/>
              <a:cxnLst/>
              <a:rect l="l" t="t" r="r" b="b"/>
              <a:pathLst>
                <a:path w="4816592" h="9137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91373"/>
                  </a:lnTo>
                  <a:lnTo>
                    <a:pt x="0" y="91373"/>
                  </a:lnTo>
                  <a:close/>
                </a:path>
              </a:pathLst>
            </a:custGeom>
            <a:solidFill>
              <a:srgbClr val="E97E8D"/>
            </a:solidFill>
            <a:ln>
              <a:noFill/>
            </a:ln>
          </p:spPr>
          <p:txBody>
            <a:bodyPr/>
            <a:lstStyle/>
            <a:p>
              <a:endParaRPr lang="he-IL">
                <a:latin typeface="Heebo" pitchFamily="2" charset="-79"/>
                <a:cs typeface="Heebo" pitchFamily="2" charset="-79"/>
              </a:endParaRPr>
            </a:p>
          </p:txBody>
        </p:sp>
        <p:sp>
          <p:nvSpPr>
            <p:cNvPr id="125" name="Google Shape;125;p5"/>
            <p:cNvSpPr txBox="1"/>
            <p:nvPr/>
          </p:nvSpPr>
          <p:spPr>
            <a:xfrm>
              <a:off x="0" y="-28575"/>
              <a:ext cx="4816593" cy="119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Heebo" pitchFamily="2" charset="-79"/>
                <a:ea typeface="Calibri"/>
                <a:cs typeface="Heebo" pitchFamily="2" charset="-79"/>
                <a:sym typeface="Calibri"/>
              </a:endParaRPr>
            </a:p>
          </p:txBody>
        </p:sp>
      </p:grpSp>
      <p:sp>
        <p:nvSpPr>
          <p:cNvPr id="126" name="Google Shape;126;p5"/>
          <p:cNvSpPr/>
          <p:nvPr/>
        </p:nvSpPr>
        <p:spPr>
          <a:xfrm>
            <a:off x="6295376" y="6756805"/>
            <a:ext cx="4936368" cy="3356730"/>
          </a:xfrm>
          <a:custGeom>
            <a:avLst/>
            <a:gdLst/>
            <a:ahLst/>
            <a:cxnLst/>
            <a:rect l="l" t="t" r="r" b="b"/>
            <a:pathLst>
              <a:path w="4936368" h="3356730" extrusionOk="0">
                <a:moveTo>
                  <a:pt x="0" y="0"/>
                </a:moveTo>
                <a:lnTo>
                  <a:pt x="4936368" y="0"/>
                </a:lnTo>
                <a:lnTo>
                  <a:pt x="4936368" y="3356730"/>
                </a:lnTo>
                <a:lnTo>
                  <a:pt x="0" y="33567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he-IL">
              <a:latin typeface="Heebo" pitchFamily="2" charset="-79"/>
              <a:cs typeface="Heebo" pitchFamily="2" charset="-79"/>
            </a:endParaRPr>
          </a:p>
        </p:txBody>
      </p:sp>
      <p:sp>
        <p:nvSpPr>
          <p:cNvPr id="127" name="Google Shape;127;p5"/>
          <p:cNvSpPr txBox="1"/>
          <p:nvPr/>
        </p:nvSpPr>
        <p:spPr>
          <a:xfrm>
            <a:off x="7305029" y="1062559"/>
            <a:ext cx="3251849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5000" b="1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פתיח ופתיחה</a:t>
            </a:r>
            <a:endParaRPr>
              <a:latin typeface="Heebo" pitchFamily="2" charset="-79"/>
              <a:cs typeface="Heebo" pitchFamily="2" charset="-79"/>
            </a:endParaRPr>
          </a:p>
        </p:txBody>
      </p:sp>
      <p:sp>
        <p:nvSpPr>
          <p:cNvPr id="128" name="Google Shape;128;p5"/>
          <p:cNvSpPr txBox="1"/>
          <p:nvPr/>
        </p:nvSpPr>
        <p:spPr>
          <a:xfrm>
            <a:off x="2222474" y="3214539"/>
            <a:ext cx="1308210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שתפו בשאלה פתוחה, אמירה או מחשבה הקשורה לסיפור אותו בחרת לספר.</a:t>
            </a:r>
            <a:endParaRPr>
              <a:latin typeface="Heebo" pitchFamily="2" charset="-79"/>
              <a:cs typeface="Heebo" pitchFamily="2" charset="-79"/>
            </a:endParaRPr>
          </a:p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לאחר מכן, תנו מסגרת לדמות, ספרו על החיים שלפני המלחמה, על המשפחה והקהילה. </a:t>
            </a:r>
            <a:endParaRPr>
              <a:latin typeface="Heebo" pitchFamily="2" charset="-79"/>
              <a:cs typeface="Heebo" pitchFamily="2" charset="-79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ADB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/>
          <p:nvPr/>
        </p:nvSpPr>
        <p:spPr>
          <a:xfrm>
            <a:off x="2889810" y="3447132"/>
            <a:ext cx="4196052" cy="5963381"/>
          </a:xfrm>
          <a:custGeom>
            <a:avLst/>
            <a:gdLst/>
            <a:ahLst/>
            <a:cxnLst/>
            <a:rect l="l" t="t" r="r" b="b"/>
            <a:pathLst>
              <a:path w="4196052" h="5963381" extrusionOk="0">
                <a:moveTo>
                  <a:pt x="0" y="0"/>
                </a:moveTo>
                <a:lnTo>
                  <a:pt x="4196052" y="0"/>
                </a:lnTo>
                <a:lnTo>
                  <a:pt x="4196052" y="5963381"/>
                </a:lnTo>
                <a:lnTo>
                  <a:pt x="0" y="5963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he-IL">
              <a:latin typeface="Heebo" pitchFamily="2" charset="-79"/>
              <a:cs typeface="Heebo" pitchFamily="2" charset="-79"/>
            </a:endParaRPr>
          </a:p>
        </p:txBody>
      </p:sp>
      <p:sp>
        <p:nvSpPr>
          <p:cNvPr id="134" name="Google Shape;134;p6"/>
          <p:cNvSpPr/>
          <p:nvPr/>
        </p:nvSpPr>
        <p:spPr>
          <a:xfrm rot="-5400000">
            <a:off x="10301265" y="3187751"/>
            <a:ext cx="4222837" cy="6001448"/>
          </a:xfrm>
          <a:custGeom>
            <a:avLst/>
            <a:gdLst/>
            <a:ahLst/>
            <a:cxnLst/>
            <a:rect l="l" t="t" r="r" b="b"/>
            <a:pathLst>
              <a:path w="4222837" h="6001448" extrusionOk="0">
                <a:moveTo>
                  <a:pt x="0" y="0"/>
                </a:moveTo>
                <a:lnTo>
                  <a:pt x="4222837" y="0"/>
                </a:lnTo>
                <a:lnTo>
                  <a:pt x="4222837" y="6001448"/>
                </a:lnTo>
                <a:lnTo>
                  <a:pt x="0" y="6001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he-IL">
              <a:latin typeface="Heebo" pitchFamily="2" charset="-79"/>
              <a:cs typeface="Heebo" pitchFamily="2" charset="-79"/>
            </a:endParaRPr>
          </a:p>
        </p:txBody>
      </p:sp>
      <p:grpSp>
        <p:nvGrpSpPr>
          <p:cNvPr id="135" name="Google Shape;135;p6"/>
          <p:cNvGrpSpPr/>
          <p:nvPr/>
        </p:nvGrpSpPr>
        <p:grpSpPr>
          <a:xfrm>
            <a:off x="0" y="9831575"/>
            <a:ext cx="18288000" cy="455425"/>
            <a:chOff x="0" y="-28575"/>
            <a:chExt cx="4816593" cy="119948"/>
          </a:xfrm>
        </p:grpSpPr>
        <p:sp>
          <p:nvSpPr>
            <p:cNvPr id="136" name="Google Shape;136;p6"/>
            <p:cNvSpPr/>
            <p:nvPr/>
          </p:nvSpPr>
          <p:spPr>
            <a:xfrm>
              <a:off x="0" y="0"/>
              <a:ext cx="4816592" cy="91373"/>
            </a:xfrm>
            <a:custGeom>
              <a:avLst/>
              <a:gdLst/>
              <a:ahLst/>
              <a:cxnLst/>
              <a:rect l="l" t="t" r="r" b="b"/>
              <a:pathLst>
                <a:path w="4816592" h="9137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91373"/>
                  </a:lnTo>
                  <a:lnTo>
                    <a:pt x="0" y="91373"/>
                  </a:lnTo>
                  <a:close/>
                </a:path>
              </a:pathLst>
            </a:custGeom>
            <a:solidFill>
              <a:srgbClr val="E97E8D"/>
            </a:solidFill>
            <a:ln>
              <a:noFill/>
            </a:ln>
          </p:spPr>
          <p:txBody>
            <a:bodyPr/>
            <a:lstStyle/>
            <a:p>
              <a:endParaRPr lang="he-IL">
                <a:latin typeface="Heebo" pitchFamily="2" charset="-79"/>
                <a:cs typeface="Heebo" pitchFamily="2" charset="-79"/>
              </a:endParaRPr>
            </a:p>
          </p:txBody>
        </p:sp>
        <p:sp>
          <p:nvSpPr>
            <p:cNvPr id="137" name="Google Shape;137;p6"/>
            <p:cNvSpPr txBox="1"/>
            <p:nvPr/>
          </p:nvSpPr>
          <p:spPr>
            <a:xfrm>
              <a:off x="0" y="-28575"/>
              <a:ext cx="4816593" cy="119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Heebo" pitchFamily="2" charset="-79"/>
                <a:ea typeface="Calibri"/>
                <a:cs typeface="Heebo" pitchFamily="2" charset="-79"/>
                <a:sym typeface="Calibri"/>
              </a:endParaRPr>
            </a:p>
          </p:txBody>
        </p:sp>
      </p:grpSp>
      <p:sp>
        <p:nvSpPr>
          <p:cNvPr id="138" name="Google Shape;138;p6"/>
          <p:cNvSpPr txBox="1"/>
          <p:nvPr/>
        </p:nvSpPr>
        <p:spPr>
          <a:xfrm>
            <a:off x="5831409" y="918500"/>
            <a:ext cx="66252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5000" b="1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דמויות נוספות </a:t>
            </a:r>
            <a:endParaRPr>
              <a:latin typeface="Heebo" pitchFamily="2" charset="-79"/>
              <a:cs typeface="Heebo" pitchFamily="2" charset="-79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4029228" y="1933959"/>
            <a:ext cx="10229544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כאן אפשר לספר על דמויות נוספות העולות בסיפור</a:t>
            </a:r>
            <a:endParaRPr>
              <a:latin typeface="Heebo" pitchFamily="2" charset="-79"/>
              <a:cs typeface="Heebo" pitchFamily="2" charset="-79"/>
            </a:endParaRPr>
          </a:p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מי הן היו? מה הקשר שלהן לדמות המרכזית? מה הקשר שלהן אליך?</a:t>
            </a:r>
            <a:endParaRPr>
              <a:latin typeface="Heebo" pitchFamily="2" charset="-79"/>
              <a:cs typeface="Heebo" pitchFamily="2" charset="-79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11490600" y="5843765"/>
            <a:ext cx="1844166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 dirty="0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תמונה</a:t>
            </a:r>
            <a:endParaRPr dirty="0">
              <a:latin typeface="Heebo" pitchFamily="2" charset="-79"/>
              <a:cs typeface="Heebo" pitchFamily="2" charset="-79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4042453" y="6084112"/>
            <a:ext cx="1890765" cy="689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 dirty="0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תמונה</a:t>
            </a:r>
            <a:endParaRPr dirty="0">
              <a:latin typeface="Heebo" pitchFamily="2" charset="-79"/>
              <a:cs typeface="Heebo" pitchFamily="2" charset="-79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ADB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" name="Google Shape;146;p7"/>
          <p:cNvGrpSpPr/>
          <p:nvPr/>
        </p:nvGrpSpPr>
        <p:grpSpPr>
          <a:xfrm rot="10800000">
            <a:off x="0" y="9940070"/>
            <a:ext cx="18288000" cy="455425"/>
            <a:chOff x="0" y="-28575"/>
            <a:chExt cx="4816593" cy="119948"/>
          </a:xfrm>
        </p:grpSpPr>
        <p:sp>
          <p:nvSpPr>
            <p:cNvPr id="147" name="Google Shape;147;p7"/>
            <p:cNvSpPr/>
            <p:nvPr/>
          </p:nvSpPr>
          <p:spPr>
            <a:xfrm>
              <a:off x="0" y="0"/>
              <a:ext cx="4816592" cy="91373"/>
            </a:xfrm>
            <a:custGeom>
              <a:avLst/>
              <a:gdLst/>
              <a:ahLst/>
              <a:cxnLst/>
              <a:rect l="l" t="t" r="r" b="b"/>
              <a:pathLst>
                <a:path w="4816592" h="9137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91373"/>
                  </a:lnTo>
                  <a:lnTo>
                    <a:pt x="0" y="91373"/>
                  </a:lnTo>
                  <a:close/>
                </a:path>
              </a:pathLst>
            </a:custGeom>
            <a:solidFill>
              <a:srgbClr val="E97E8D"/>
            </a:solidFill>
            <a:ln>
              <a:noFill/>
            </a:ln>
          </p:spPr>
          <p:txBody>
            <a:bodyPr/>
            <a:lstStyle/>
            <a:p>
              <a:endParaRPr lang="he-IL">
                <a:latin typeface="Heebo" pitchFamily="2" charset="-79"/>
                <a:cs typeface="Heebo" pitchFamily="2" charset="-79"/>
              </a:endParaRPr>
            </a:p>
          </p:txBody>
        </p:sp>
        <p:sp>
          <p:nvSpPr>
            <p:cNvPr id="148" name="Google Shape;148;p7"/>
            <p:cNvSpPr txBox="1"/>
            <p:nvPr/>
          </p:nvSpPr>
          <p:spPr>
            <a:xfrm>
              <a:off x="0" y="-28575"/>
              <a:ext cx="4816593" cy="119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Heebo" pitchFamily="2" charset="-79"/>
                <a:ea typeface="Calibri"/>
                <a:cs typeface="Heebo" pitchFamily="2" charset="-79"/>
                <a:sym typeface="Calibri"/>
              </a:endParaRPr>
            </a:p>
          </p:txBody>
        </p:sp>
      </p:grpSp>
      <p:sp>
        <p:nvSpPr>
          <p:cNvPr id="149" name="Google Shape;149;p7"/>
          <p:cNvSpPr/>
          <p:nvPr/>
        </p:nvSpPr>
        <p:spPr>
          <a:xfrm>
            <a:off x="12211688" y="6400618"/>
            <a:ext cx="6076312" cy="3539451"/>
          </a:xfrm>
          <a:custGeom>
            <a:avLst/>
            <a:gdLst/>
            <a:ahLst/>
            <a:cxnLst/>
            <a:rect l="l" t="t" r="r" b="b"/>
            <a:pathLst>
              <a:path w="6076312" h="3539451" extrusionOk="0">
                <a:moveTo>
                  <a:pt x="0" y="0"/>
                </a:moveTo>
                <a:lnTo>
                  <a:pt x="6076312" y="0"/>
                </a:lnTo>
                <a:lnTo>
                  <a:pt x="6076312" y="3539452"/>
                </a:lnTo>
                <a:lnTo>
                  <a:pt x="0" y="35394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he-IL">
              <a:latin typeface="Heebo" pitchFamily="2" charset="-79"/>
              <a:cs typeface="Heebo" pitchFamily="2" charset="-79"/>
            </a:endParaRPr>
          </a:p>
        </p:txBody>
      </p:sp>
      <p:sp>
        <p:nvSpPr>
          <p:cNvPr id="150" name="Google Shape;150;p7"/>
          <p:cNvSpPr txBox="1"/>
          <p:nvPr/>
        </p:nvSpPr>
        <p:spPr>
          <a:xfrm>
            <a:off x="4468801" y="1000125"/>
            <a:ext cx="93504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5000" b="1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האירוע המרכזי עליו בחרתי לספר</a:t>
            </a:r>
            <a:endParaRPr>
              <a:latin typeface="Heebo" pitchFamily="2" charset="-79"/>
              <a:cs typeface="Heebo" pitchFamily="2" charset="-79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2986349" y="3295663"/>
            <a:ext cx="1176750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כאן נקודת הזמן, המאורע או הקונפליקט בו בחרתם להתמקד בו.</a:t>
            </a:r>
            <a:endParaRPr>
              <a:latin typeface="Heebo" pitchFamily="2" charset="-79"/>
              <a:cs typeface="Heebo" pitchFamily="2" charset="-79"/>
            </a:endParaRPr>
          </a:p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חשוב לתת הקשר למקום, לזמן ולמאורע עליו מספרים.</a:t>
            </a:r>
            <a:endParaRPr>
              <a:latin typeface="Heebo" pitchFamily="2" charset="-79"/>
              <a:cs typeface="Heebo" pitchFamily="2" charset="-79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ADB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oogle Shape;156;p8"/>
          <p:cNvGrpSpPr/>
          <p:nvPr/>
        </p:nvGrpSpPr>
        <p:grpSpPr>
          <a:xfrm>
            <a:off x="0" y="9831575"/>
            <a:ext cx="18288000" cy="455425"/>
            <a:chOff x="0" y="-28575"/>
            <a:chExt cx="4816593" cy="119948"/>
          </a:xfrm>
        </p:grpSpPr>
        <p:sp>
          <p:nvSpPr>
            <p:cNvPr id="157" name="Google Shape;157;p8"/>
            <p:cNvSpPr/>
            <p:nvPr/>
          </p:nvSpPr>
          <p:spPr>
            <a:xfrm>
              <a:off x="0" y="0"/>
              <a:ext cx="4816592" cy="91373"/>
            </a:xfrm>
            <a:custGeom>
              <a:avLst/>
              <a:gdLst/>
              <a:ahLst/>
              <a:cxnLst/>
              <a:rect l="l" t="t" r="r" b="b"/>
              <a:pathLst>
                <a:path w="4816592" h="9137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91373"/>
                  </a:lnTo>
                  <a:lnTo>
                    <a:pt x="0" y="91373"/>
                  </a:lnTo>
                  <a:close/>
                </a:path>
              </a:pathLst>
            </a:custGeom>
            <a:solidFill>
              <a:srgbClr val="E97E8D"/>
            </a:solidFill>
            <a:ln>
              <a:noFill/>
            </a:ln>
          </p:spPr>
          <p:txBody>
            <a:bodyPr/>
            <a:lstStyle/>
            <a:p>
              <a:endParaRPr lang="he-IL">
                <a:latin typeface="Heebo" pitchFamily="2" charset="-79"/>
                <a:cs typeface="Heebo" pitchFamily="2" charset="-79"/>
              </a:endParaRPr>
            </a:p>
          </p:txBody>
        </p:sp>
        <p:sp>
          <p:nvSpPr>
            <p:cNvPr id="158" name="Google Shape;158;p8"/>
            <p:cNvSpPr txBox="1"/>
            <p:nvPr/>
          </p:nvSpPr>
          <p:spPr>
            <a:xfrm>
              <a:off x="0" y="-28575"/>
              <a:ext cx="4816593" cy="119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Heebo" pitchFamily="2" charset="-79"/>
                <a:ea typeface="Calibri"/>
                <a:cs typeface="Heebo" pitchFamily="2" charset="-79"/>
                <a:sym typeface="Calibri"/>
              </a:endParaRPr>
            </a:p>
          </p:txBody>
        </p:sp>
      </p:grpSp>
      <p:sp>
        <p:nvSpPr>
          <p:cNvPr id="159" name="Google Shape;159;p8"/>
          <p:cNvSpPr/>
          <p:nvPr/>
        </p:nvSpPr>
        <p:spPr>
          <a:xfrm>
            <a:off x="591446" y="5968313"/>
            <a:ext cx="5154680" cy="4145222"/>
          </a:xfrm>
          <a:custGeom>
            <a:avLst/>
            <a:gdLst/>
            <a:ahLst/>
            <a:cxnLst/>
            <a:rect l="l" t="t" r="r" b="b"/>
            <a:pathLst>
              <a:path w="5154680" h="4145222" extrusionOk="0">
                <a:moveTo>
                  <a:pt x="0" y="0"/>
                </a:moveTo>
                <a:lnTo>
                  <a:pt x="5154679" y="0"/>
                </a:lnTo>
                <a:lnTo>
                  <a:pt x="5154679" y="4145222"/>
                </a:lnTo>
                <a:lnTo>
                  <a:pt x="0" y="41452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he-IL">
              <a:latin typeface="Heebo" pitchFamily="2" charset="-79"/>
              <a:cs typeface="Heebo" pitchFamily="2" charset="-79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7575327" y="857250"/>
            <a:ext cx="2954734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5000" b="1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סיום הסיפור</a:t>
            </a:r>
            <a:endParaRPr>
              <a:latin typeface="Heebo" pitchFamily="2" charset="-79"/>
              <a:cs typeface="Heebo" pitchFamily="2" charset="-79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1556967" y="2992384"/>
            <a:ext cx="14705700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נקודת הסיום  היא הרגע הנכון לחזור להתחלה, לפתיח, ולסגור את "מעגל" הסיפור. </a:t>
            </a:r>
            <a:endParaRPr>
              <a:latin typeface="Heebo" pitchFamily="2" charset="-79"/>
              <a:cs typeface="Heebo" pitchFamily="2" charset="-79"/>
            </a:endParaRPr>
          </a:p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ניתן לתת מענה ותשובה לשאלה ששאלתם, למחשבה שהעליתם בתחילתו של הסיפור.</a:t>
            </a:r>
            <a:endParaRPr>
              <a:latin typeface="Heebo" pitchFamily="2" charset="-79"/>
              <a:cs typeface="Heebo" pitchFamily="2" charset="-79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ADB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9"/>
          <p:cNvGrpSpPr/>
          <p:nvPr/>
        </p:nvGrpSpPr>
        <p:grpSpPr>
          <a:xfrm rot="10800000">
            <a:off x="0" y="9940070"/>
            <a:ext cx="18288000" cy="455425"/>
            <a:chOff x="0" y="-28575"/>
            <a:chExt cx="4816593" cy="119948"/>
          </a:xfrm>
        </p:grpSpPr>
        <p:sp>
          <p:nvSpPr>
            <p:cNvPr id="167" name="Google Shape;167;p9"/>
            <p:cNvSpPr/>
            <p:nvPr/>
          </p:nvSpPr>
          <p:spPr>
            <a:xfrm>
              <a:off x="0" y="0"/>
              <a:ext cx="4816592" cy="91373"/>
            </a:xfrm>
            <a:custGeom>
              <a:avLst/>
              <a:gdLst/>
              <a:ahLst/>
              <a:cxnLst/>
              <a:rect l="l" t="t" r="r" b="b"/>
              <a:pathLst>
                <a:path w="4816592" h="9137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91373"/>
                  </a:lnTo>
                  <a:lnTo>
                    <a:pt x="0" y="91373"/>
                  </a:lnTo>
                  <a:close/>
                </a:path>
              </a:pathLst>
            </a:custGeom>
            <a:solidFill>
              <a:srgbClr val="E97E8D"/>
            </a:solidFill>
            <a:ln>
              <a:noFill/>
            </a:ln>
          </p:spPr>
          <p:txBody>
            <a:bodyPr/>
            <a:lstStyle/>
            <a:p>
              <a:endParaRPr lang="he-IL">
                <a:latin typeface="Heebo" pitchFamily="2" charset="-79"/>
                <a:cs typeface="Heebo" pitchFamily="2" charset="-79"/>
              </a:endParaRPr>
            </a:p>
          </p:txBody>
        </p:sp>
        <p:sp>
          <p:nvSpPr>
            <p:cNvPr id="168" name="Google Shape;168;p9"/>
            <p:cNvSpPr txBox="1"/>
            <p:nvPr/>
          </p:nvSpPr>
          <p:spPr>
            <a:xfrm>
              <a:off x="0" y="-28575"/>
              <a:ext cx="4816593" cy="119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Heebo" pitchFamily="2" charset="-79"/>
                <a:ea typeface="Calibri"/>
                <a:cs typeface="Heebo" pitchFamily="2" charset="-79"/>
                <a:sym typeface="Calibri"/>
              </a:endParaRPr>
            </a:p>
          </p:txBody>
        </p:sp>
      </p:grpSp>
      <p:sp>
        <p:nvSpPr>
          <p:cNvPr id="169" name="Google Shape;169;p9"/>
          <p:cNvSpPr/>
          <p:nvPr/>
        </p:nvSpPr>
        <p:spPr>
          <a:xfrm>
            <a:off x="13843575" y="682766"/>
            <a:ext cx="3415725" cy="2134828"/>
          </a:xfrm>
          <a:custGeom>
            <a:avLst/>
            <a:gdLst/>
            <a:ahLst/>
            <a:cxnLst/>
            <a:rect l="l" t="t" r="r" b="b"/>
            <a:pathLst>
              <a:path w="3415725" h="2134828" extrusionOk="0">
                <a:moveTo>
                  <a:pt x="0" y="0"/>
                </a:moveTo>
                <a:lnTo>
                  <a:pt x="3415725" y="0"/>
                </a:lnTo>
                <a:lnTo>
                  <a:pt x="3415725" y="2134828"/>
                </a:lnTo>
                <a:lnTo>
                  <a:pt x="0" y="21348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38969" t="-21181" r="-162862" b="-163743"/>
            </a:stretch>
          </a:blipFill>
          <a:ln>
            <a:noFill/>
          </a:ln>
        </p:spPr>
        <p:txBody>
          <a:bodyPr/>
          <a:lstStyle/>
          <a:p>
            <a:endParaRPr lang="he-IL">
              <a:latin typeface="Heebo" pitchFamily="2" charset="-79"/>
              <a:cs typeface="Heebo" pitchFamily="2" charset="-79"/>
            </a:endParaRPr>
          </a:p>
        </p:txBody>
      </p:sp>
      <p:sp>
        <p:nvSpPr>
          <p:cNvPr id="170" name="Google Shape;170;p9"/>
          <p:cNvSpPr txBox="1"/>
          <p:nvPr/>
        </p:nvSpPr>
        <p:spPr>
          <a:xfrm>
            <a:off x="4599152" y="948425"/>
            <a:ext cx="9089700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999" b="1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אחרי המלחמה ותקומה אישית</a:t>
            </a:r>
            <a:endParaRPr>
              <a:latin typeface="Heebo" pitchFamily="2" charset="-79"/>
              <a:cs typeface="Heebo" pitchFamily="2" charset="-79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3838041" y="2191520"/>
            <a:ext cx="10611918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לספר על התקומה האישית והמשפחתית על העלייה לארץ, </a:t>
            </a:r>
            <a:endParaRPr>
              <a:latin typeface="Heebo" pitchFamily="2" charset="-79"/>
              <a:cs typeface="Heebo" pitchFamily="2" charset="-79"/>
            </a:endParaRPr>
          </a:p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הקמת המשפחה ועוד.</a:t>
            </a:r>
            <a:endParaRPr>
              <a:latin typeface="Heebo" pitchFamily="2" charset="-79"/>
              <a:cs typeface="Heebo" pitchFamily="2" charset="-79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2889810" y="3447132"/>
            <a:ext cx="4196052" cy="5963381"/>
          </a:xfrm>
          <a:custGeom>
            <a:avLst/>
            <a:gdLst/>
            <a:ahLst/>
            <a:cxnLst/>
            <a:rect l="l" t="t" r="r" b="b"/>
            <a:pathLst>
              <a:path w="4196052" h="5963381" extrusionOk="0">
                <a:moveTo>
                  <a:pt x="0" y="0"/>
                </a:moveTo>
                <a:lnTo>
                  <a:pt x="4196052" y="0"/>
                </a:lnTo>
                <a:lnTo>
                  <a:pt x="4196052" y="5963381"/>
                </a:lnTo>
                <a:lnTo>
                  <a:pt x="0" y="59633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he-IL">
              <a:latin typeface="Heebo" pitchFamily="2" charset="-79"/>
              <a:cs typeface="Heebo" pitchFamily="2" charset="-79"/>
            </a:endParaRPr>
          </a:p>
        </p:txBody>
      </p:sp>
      <p:sp>
        <p:nvSpPr>
          <p:cNvPr id="173" name="Google Shape;173;p9"/>
          <p:cNvSpPr/>
          <p:nvPr/>
        </p:nvSpPr>
        <p:spPr>
          <a:xfrm rot="-5400000">
            <a:off x="10301265" y="3187751"/>
            <a:ext cx="4222837" cy="6001448"/>
          </a:xfrm>
          <a:custGeom>
            <a:avLst/>
            <a:gdLst/>
            <a:ahLst/>
            <a:cxnLst/>
            <a:rect l="l" t="t" r="r" b="b"/>
            <a:pathLst>
              <a:path w="4222837" h="6001448" extrusionOk="0">
                <a:moveTo>
                  <a:pt x="0" y="0"/>
                </a:moveTo>
                <a:lnTo>
                  <a:pt x="4222837" y="0"/>
                </a:lnTo>
                <a:lnTo>
                  <a:pt x="4222837" y="6001448"/>
                </a:lnTo>
                <a:lnTo>
                  <a:pt x="0" y="6001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he-IL">
              <a:latin typeface="Heebo" pitchFamily="2" charset="-79"/>
              <a:cs typeface="Heebo" pitchFamily="2" charset="-79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11072932" y="5499055"/>
            <a:ext cx="2679502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תמונה משפחתית</a:t>
            </a:r>
            <a:endParaRPr>
              <a:latin typeface="Heebo" pitchFamily="2" charset="-79"/>
              <a:cs typeface="Heebo" pitchFamily="2" charset="-79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3637072" y="4809636"/>
            <a:ext cx="2701528" cy="2757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 dirty="0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תמונה מהתקופה </a:t>
            </a:r>
            <a:endParaRPr dirty="0">
              <a:latin typeface="Heebo" pitchFamily="2" charset="-79"/>
              <a:cs typeface="Heebo" pitchFamily="2" charset="-79"/>
            </a:endParaRPr>
          </a:p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 dirty="0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שלאחר המלחמה </a:t>
            </a:r>
            <a:endParaRPr dirty="0">
              <a:latin typeface="Heebo" pitchFamily="2" charset="-79"/>
              <a:cs typeface="Heebo" pitchFamily="2" charset="-79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ADB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10"/>
          <p:cNvGrpSpPr/>
          <p:nvPr/>
        </p:nvGrpSpPr>
        <p:grpSpPr>
          <a:xfrm rot="10800000">
            <a:off x="0" y="9940070"/>
            <a:ext cx="18288000" cy="455425"/>
            <a:chOff x="0" y="-28575"/>
            <a:chExt cx="4816593" cy="119948"/>
          </a:xfrm>
        </p:grpSpPr>
        <p:sp>
          <p:nvSpPr>
            <p:cNvPr id="181" name="Google Shape;181;p10"/>
            <p:cNvSpPr/>
            <p:nvPr/>
          </p:nvSpPr>
          <p:spPr>
            <a:xfrm>
              <a:off x="0" y="0"/>
              <a:ext cx="4816592" cy="91373"/>
            </a:xfrm>
            <a:custGeom>
              <a:avLst/>
              <a:gdLst/>
              <a:ahLst/>
              <a:cxnLst/>
              <a:rect l="l" t="t" r="r" b="b"/>
              <a:pathLst>
                <a:path w="4816592" h="9137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91373"/>
                  </a:lnTo>
                  <a:lnTo>
                    <a:pt x="0" y="91373"/>
                  </a:lnTo>
                  <a:close/>
                </a:path>
              </a:pathLst>
            </a:custGeom>
            <a:solidFill>
              <a:srgbClr val="E97E8D"/>
            </a:solidFill>
            <a:ln>
              <a:noFill/>
            </a:ln>
          </p:spPr>
          <p:txBody>
            <a:bodyPr/>
            <a:lstStyle/>
            <a:p>
              <a:endParaRPr lang="he-IL">
                <a:latin typeface="Heebo" pitchFamily="2" charset="-79"/>
                <a:cs typeface="Heebo" pitchFamily="2" charset="-79"/>
              </a:endParaRPr>
            </a:p>
          </p:txBody>
        </p:sp>
        <p:sp>
          <p:nvSpPr>
            <p:cNvPr id="182" name="Google Shape;182;p10"/>
            <p:cNvSpPr txBox="1"/>
            <p:nvPr/>
          </p:nvSpPr>
          <p:spPr>
            <a:xfrm>
              <a:off x="0" y="-28575"/>
              <a:ext cx="4816593" cy="1199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Heebo" pitchFamily="2" charset="-79"/>
                <a:ea typeface="Calibri"/>
                <a:cs typeface="Heebo" pitchFamily="2" charset="-79"/>
                <a:sym typeface="Calibri"/>
              </a:endParaRPr>
            </a:p>
          </p:txBody>
        </p:sp>
      </p:grpSp>
      <p:sp>
        <p:nvSpPr>
          <p:cNvPr id="183" name="Google Shape;183;p10"/>
          <p:cNvSpPr/>
          <p:nvPr/>
        </p:nvSpPr>
        <p:spPr>
          <a:xfrm>
            <a:off x="5783561" y="6585041"/>
            <a:ext cx="6264349" cy="3355029"/>
          </a:xfrm>
          <a:custGeom>
            <a:avLst/>
            <a:gdLst/>
            <a:ahLst/>
            <a:cxnLst/>
            <a:rect l="l" t="t" r="r" b="b"/>
            <a:pathLst>
              <a:path w="6264349" h="3355029" extrusionOk="0">
                <a:moveTo>
                  <a:pt x="0" y="0"/>
                </a:moveTo>
                <a:lnTo>
                  <a:pt x="6264350" y="0"/>
                </a:lnTo>
                <a:lnTo>
                  <a:pt x="6264350" y="3355029"/>
                </a:lnTo>
                <a:lnTo>
                  <a:pt x="0" y="33550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41649" t="-71004" r="-18099" b="-4727"/>
            </a:stretch>
          </a:blipFill>
          <a:ln>
            <a:noFill/>
          </a:ln>
        </p:spPr>
        <p:txBody>
          <a:bodyPr/>
          <a:lstStyle/>
          <a:p>
            <a:endParaRPr lang="he-IL">
              <a:latin typeface="Heebo" pitchFamily="2" charset="-79"/>
              <a:cs typeface="Heebo" pitchFamily="2" charset="-79"/>
            </a:endParaRPr>
          </a:p>
        </p:txBody>
      </p:sp>
      <p:sp>
        <p:nvSpPr>
          <p:cNvPr id="184" name="Google Shape;184;p10"/>
          <p:cNvSpPr txBox="1"/>
          <p:nvPr/>
        </p:nvSpPr>
        <p:spPr>
          <a:xfrm>
            <a:off x="6634366" y="968825"/>
            <a:ext cx="4562700" cy="1077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4999" b="1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המסר שלי</a:t>
            </a:r>
            <a:endParaRPr>
              <a:latin typeface="Heebo" pitchFamily="2" charset="-79"/>
              <a:cs typeface="Heebo" pitchFamily="2" charset="-79"/>
            </a:endParaRPr>
          </a:p>
        </p:txBody>
      </p:sp>
      <p:sp>
        <p:nvSpPr>
          <p:cNvPr id="185" name="Google Shape;185;p10"/>
          <p:cNvSpPr txBox="1"/>
          <p:nvPr/>
        </p:nvSpPr>
        <p:spPr>
          <a:xfrm>
            <a:off x="2191681" y="2096493"/>
            <a:ext cx="13448109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מה חשוב לי להעביר לי ליושבי הסלון?</a:t>
            </a:r>
            <a:endParaRPr>
              <a:latin typeface="Heebo" pitchFamily="2" charset="-79"/>
              <a:cs typeface="Heebo" pitchFamily="2" charset="-79"/>
            </a:endParaRPr>
          </a:p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למה אתם מספרים את הסיפור? </a:t>
            </a:r>
            <a:endParaRPr>
              <a:latin typeface="Heebo" pitchFamily="2" charset="-79"/>
              <a:cs typeface="Heebo" pitchFamily="2" charset="-79"/>
            </a:endParaRPr>
          </a:p>
          <a:p>
            <a:pPr marL="0" marR="0" lvl="0" indent="0" algn="ctr" rtl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w-IL" sz="3200" b="0" i="0" u="none" strike="noStrike" cap="none">
                <a:solidFill>
                  <a:srgbClr val="000000"/>
                </a:solidFill>
                <a:latin typeface="Heebo" pitchFamily="2" charset="-79"/>
                <a:cs typeface="Heebo" pitchFamily="2" charset="-79"/>
                <a:sym typeface="Arial"/>
                <a:rtl/>
              </a:rPr>
              <a:t>מסר המחובר לערכים העולים מהסיפור ומהדמות עליה בחרתי לספר</a:t>
            </a:r>
            <a:endParaRPr>
              <a:latin typeface="Heebo" pitchFamily="2" charset="-79"/>
              <a:cs typeface="Heebo" pitchFamily="2" charset="-79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334</Words>
  <Application>Microsoft Office PowerPoint</Application>
  <PresentationFormat>מותאם אישית</PresentationFormat>
  <Paragraphs>51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4" baseType="lpstr">
      <vt:lpstr>Calibri</vt:lpstr>
      <vt:lpstr>Heebo</vt:lpstr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Adi Shmueli</cp:lastModifiedBy>
  <cp:revision>1</cp:revision>
  <dcterms:created xsi:type="dcterms:W3CDTF">2006-08-16T00:00:00Z</dcterms:created>
  <dcterms:modified xsi:type="dcterms:W3CDTF">2025-04-10T12:33:01Z</dcterms:modified>
</cp:coreProperties>
</file>